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Advanced</a:t>
            </a:r>
            <a:r>
              <a:rPr/>
              <a:t> </a:t>
            </a:r>
            <a:r>
              <a:rPr/>
              <a:t>Credit</a:t>
            </a:r>
            <a:r>
              <a:rPr/>
              <a:t> </a:t>
            </a:r>
            <a:r>
              <a:rPr/>
              <a:t>Risk</a:t>
            </a:r>
            <a:r>
              <a:rPr/>
              <a:t> </a:t>
            </a:r>
            <a:r>
              <a:rPr/>
              <a:t>Scoring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Vehicle</a:t>
            </a:r>
            <a:r>
              <a:rPr/>
              <a:t> </a:t>
            </a:r>
            <a:r>
              <a:rPr/>
              <a:t>Loans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Minimizing</a:t>
            </a:r>
            <a:r>
              <a:rPr/>
              <a:t> </a:t>
            </a:r>
            <a:r>
              <a:rPr/>
              <a:t>Losses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Probabilistic</a:t>
            </a:r>
            <a:r>
              <a:rPr/>
              <a:t> </a:t>
            </a:r>
            <a:r>
              <a:rPr/>
              <a:t>Default</a:t>
            </a:r>
            <a:r>
              <a:rPr/>
              <a:t> </a:t>
            </a:r>
            <a:r>
              <a:rPr/>
              <a:t>Prediction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Transparent</a:t>
            </a:r>
            <a:r>
              <a:rPr/>
              <a:t> </a:t>
            </a:r>
            <a:r>
              <a:rPr/>
              <a:t>AI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Feb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Executive</a:t>
            </a:r>
            <a:r>
              <a:rPr/>
              <a:t> </a:t>
            </a:r>
            <a:r>
              <a:rPr/>
              <a:t>Summary</a:t>
            </a:r>
            <a:r>
              <a:rPr/>
              <a:t> </a:t>
            </a:r>
            <a:r>
              <a:rPr/>
              <a:t>(The</a:t>
            </a:r>
            <a:r>
              <a:rPr/>
              <a:t> </a:t>
            </a:r>
            <a:r>
              <a:rPr/>
              <a:t>Bottom</a:t>
            </a:r>
            <a:r>
              <a:rPr/>
              <a:t> </a:t>
            </a:r>
            <a:r>
              <a:rPr/>
              <a:t>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Champion Model</a:t>
            </a:r>
            <a:r>
              <a:rPr/>
              <a:t>: Stacking Ensemble (Hybrid Intelligence)</a:t>
            </a:r>
          </a:p>
          <a:p>
            <a:pPr lvl="1"/>
            <a:r>
              <a:rPr b="1"/>
              <a:t>Default Capture Rate</a:t>
            </a:r>
            <a:r>
              <a:rPr/>
              <a:t>: </a:t>
            </a:r>
            <a:r>
              <a:rPr b="1"/>
              <a:t>74% Recall</a:t>
            </a:r>
            <a:r>
              <a:rPr/>
              <a:t> (catching defaults before they happen)</a:t>
            </a:r>
          </a:p>
          <a:p>
            <a:pPr lvl="1"/>
            <a:r>
              <a:rPr b="1"/>
              <a:t>Primary Risk Driver</a:t>
            </a:r>
            <a:r>
              <a:rPr/>
              <a:t>: LTV (Loan-to-Value) ratio and Interaction Segments</a:t>
            </a:r>
          </a:p>
          <a:p>
            <a:pPr lvl="1"/>
            <a:r>
              <a:rPr b="1"/>
              <a:t>Strategic Goal</a:t>
            </a:r>
            <a:r>
              <a:rPr/>
              <a:t>: Minimizing financial leakage while maintaining customer approval rates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Problem</a:t>
            </a:r>
            <a:r>
              <a:rPr/>
              <a:t> </a:t>
            </a:r>
            <a:r>
              <a:rPr/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Context</a:t>
            </a:r>
            <a:r>
              <a:rPr/>
              <a:t>: Lenders are losing significant revenue to 1st EMI defaults.</a:t>
            </a:r>
          </a:p>
          <a:p>
            <a:pPr lvl="1"/>
            <a:r>
              <a:rPr b="1"/>
              <a:t>Mission</a:t>
            </a:r>
            <a:r>
              <a:rPr/>
              <a:t>: Accurately predict probability of default before loan disbursal.</a:t>
            </a:r>
          </a:p>
          <a:p>
            <a:pPr lvl="1"/>
            <a:r>
              <a:rPr b="1"/>
              <a:t>Constraint</a:t>
            </a:r>
            <a:r>
              <a:rPr/>
              <a:t>: Ensure capable borrowers are not rejected due to outdated static scoring.</a:t>
            </a:r>
          </a:p>
          <a:p>
            <a:pPr lvl="1"/>
            <a:r>
              <a:rPr b="1"/>
              <a:t>Economic Reality</a:t>
            </a:r>
            <a:r>
              <a:rPr/>
              <a:t>: A missed default is 3.6x more costly than a false rejection.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Discovery:</a:t>
            </a:r>
            <a:r>
              <a:rPr/>
              <a:t> </a:t>
            </a:r>
            <a:r>
              <a:rPr/>
              <a:t>Age</a:t>
            </a:r>
            <a:r>
              <a:rPr/>
              <a:t> </a:t>
            </a:r>
            <a:r>
              <a:rPr/>
              <a:t>Risk</a:t>
            </a:r>
          </a:p>
        </p:txBody>
      </p:sp>
      <p:pic>
        <p:nvPicPr>
          <p:cNvPr descr="ppt_visuals/eda_age_ri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17600" y="1600200"/>
            <a:ext cx="6908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Insight</a:t>
            </a:r>
            <a:r>
              <a:rPr/>
              <a:t>: Default rates peak in the 18-25 demographic (volatility in early-career borrowers).</a:t>
            </a:r>
          </a:p>
          <a:p>
            <a:pPr lvl="1"/>
            <a:r>
              <a:rPr b="1"/>
              <a:t>Finding</a:t>
            </a:r>
            <a:r>
              <a:rPr/>
              <a:t>: Systematic risk identified in younger loanees requires stricter LTV caps.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Discovery:</a:t>
            </a:r>
            <a:r>
              <a:rPr/>
              <a:t> </a:t>
            </a:r>
            <a:r>
              <a:rPr/>
              <a:t>LTV</a:t>
            </a:r>
            <a:r>
              <a:rPr/>
              <a:t> </a:t>
            </a:r>
            <a:r>
              <a:rPr/>
              <a:t>Risk</a:t>
            </a:r>
          </a:p>
        </p:txBody>
      </p:sp>
      <p:pic>
        <p:nvPicPr>
          <p:cNvPr descr="ppt_visuals/eda_ltv_ri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1600200"/>
            <a:ext cx="6997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Insight</a:t>
            </a:r>
            <a:r>
              <a:rPr/>
              <a:t>: High leverage (LTV &gt; 80%) remains the primary red flag across all demographics.</a:t>
            </a:r>
          </a:p>
          <a:p>
            <a:pPr lvl="1"/>
            <a:r>
              <a:rPr b="1"/>
              <a:t>Action</a:t>
            </a:r>
            <a:r>
              <a:rPr/>
              <a:t>: Collateral protection diminishes significantly as LTV increases.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Discovery:</a:t>
            </a:r>
            <a:r>
              <a:rPr/>
              <a:t> </a:t>
            </a:r>
            <a:r>
              <a:rPr/>
              <a:t>Manufacturer</a:t>
            </a:r>
            <a:r>
              <a:rPr/>
              <a:t> </a:t>
            </a:r>
            <a:r>
              <a:rPr/>
              <a:t>Risk</a:t>
            </a:r>
          </a:p>
        </p:txBody>
      </p:sp>
      <p:pic>
        <p:nvPicPr>
          <p:cNvPr descr="ppt_visuals/eda_manufacturer_ri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" y="1600200"/>
            <a:ext cx="8178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Insight</a:t>
            </a:r>
            <a:r>
              <a:rPr/>
              <a:t>: Geography and collateral type (Manufacturer) provide essential risk context.</a:t>
            </a:r>
          </a:p>
          <a:p>
            <a:pPr lvl="1"/>
            <a:r>
              <a:rPr b="1"/>
              <a:t>Strategy</a:t>
            </a:r>
            <a:r>
              <a:rPr/>
              <a:t>: Portfolio diversification across manufacturers is recommended.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Strategic</a:t>
            </a:r>
            <a:r>
              <a:rPr/>
              <a:t> </a:t>
            </a:r>
            <a:r>
              <a:rPr/>
              <a:t>Feature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‘Triple Threat’</a:t>
            </a:r>
            <a:r>
              <a:rPr/>
              <a:t>: Combined risk of (Young Buyer + High LTV + High-Risk Region).</a:t>
            </a:r>
          </a:p>
          <a:p>
            <a:pPr lvl="1"/>
            <a:r>
              <a:rPr b="1"/>
              <a:t>‘Credit Hunger’</a:t>
            </a:r>
            <a:r>
              <a:rPr/>
              <a:t>: Measuring frequency of bureau inquiries in short intervals.</a:t>
            </a:r>
          </a:p>
          <a:p>
            <a:pPr lvl="1"/>
            <a:r>
              <a:rPr b="1"/>
              <a:t>‘Self-Emp No History’</a:t>
            </a:r>
            <a:r>
              <a:rPr/>
              <a:t>: Specific risk logic for business owners with limited bureau data.</a:t>
            </a:r>
          </a:p>
          <a:p>
            <a:pPr lvl="1"/>
            <a:r>
              <a:rPr b="1"/>
              <a:t>Interaction Power</a:t>
            </a:r>
            <a:r>
              <a:rPr/>
              <a:t>: Moving beyond raw columns to business-aligned features.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Model</a:t>
            </a:r>
            <a:r>
              <a:rPr/>
              <a:t> </a:t>
            </a:r>
            <a:r>
              <a:rPr/>
              <a:t>Tournament</a:t>
            </a:r>
            <a:r>
              <a:rPr/>
              <a:t> </a:t>
            </a:r>
            <a:r>
              <a:rPr/>
              <a:t>Scorecard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Default</a:t>
                      </a:r>
                      <a:r>
                        <a:rPr/>
                        <a:t> </a:t>
                      </a: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Logistic</a:t>
                      </a:r>
                      <a:r>
                        <a:rPr/>
                        <a:t> </a:t>
                      </a: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Simple,</a:t>
                      </a:r>
                      <a:r>
                        <a:rPr/>
                        <a:t> </a:t>
                      </a:r>
                      <a:r>
                        <a:rPr/>
                        <a:t>Explainable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XGBoost</a:t>
                      </a:r>
                      <a:r>
                        <a:rPr/>
                        <a:t> </a:t>
                      </a:r>
                      <a:r>
                        <a:rPr/>
                        <a:t>(Tuned)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Stacking</a:t>
                      </a:r>
                      <a:r>
                        <a:rPr b="1"/>
                        <a:t> </a:t>
                      </a:r>
                      <a:r>
                        <a:rPr b="1"/>
                        <a:t>Ensemble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 b="1"/>
                        <a:t>0.645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 b="1"/>
                        <a:t>74%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ctr">
                        <a:buNone/>
                      </a:pPr>
                      <a:r>
                        <a:rPr b="1"/>
                        <a:t>Maximum</a:t>
                      </a:r>
                      <a:r>
                        <a:rPr b="1"/>
                        <a:t> </a:t>
                      </a:r>
                      <a:r>
                        <a:rPr b="1"/>
                        <a:t>Coverage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The Stacking Ensemble (XGB+RF+LR) provides the best safety net for the institution.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Champion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Performance</a:t>
            </a:r>
          </a:p>
        </p:txBody>
      </p:sp>
      <p:pic>
        <p:nvPicPr>
          <p:cNvPr descr="ppt_visuals/model_confus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600200"/>
            <a:ext cx="5613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True Positives</a:t>
            </a:r>
            <a:r>
              <a:rPr/>
              <a:t>: Catching 7,400+ potential defaults.</a:t>
            </a:r>
          </a:p>
          <a:p>
            <a:pPr lvl="1"/>
            <a:r>
              <a:rPr b="1"/>
              <a:t>Strategic Choice</a:t>
            </a:r>
            <a:r>
              <a:rPr/>
              <a:t>: Threshold set to 0.19 to maximize default detection (Recall).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Feature</a:t>
            </a:r>
            <a:r>
              <a:rPr/>
              <a:t> </a:t>
            </a:r>
            <a:r>
              <a:rPr/>
              <a:t>Importance</a:t>
            </a:r>
            <a:r>
              <a:rPr/>
              <a:t> </a:t>
            </a:r>
            <a:r>
              <a:rPr/>
              <a:t>(The</a:t>
            </a:r>
            <a:r>
              <a:rPr/>
              <a:t> </a:t>
            </a:r>
            <a:r>
              <a:rPr/>
              <a:t>“</a:t>
            </a:r>
            <a:r>
              <a:rPr/>
              <a:t>Why</a:t>
            </a:r>
            <a:r>
              <a:rPr/>
              <a:t>”</a:t>
            </a:r>
            <a:r>
              <a:rPr/>
              <a:t>)</a:t>
            </a:r>
          </a:p>
        </p:txBody>
      </p:sp>
      <p:pic>
        <p:nvPicPr>
          <p:cNvPr descr="ppt_visuals/model_shap_summa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600200"/>
            <a:ext cx="6756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ltv</a:t>
            </a:r>
            <a:r>
              <a:rPr/>
              <a:t> is the strongest driver of risk.</a:t>
            </a:r>
          </a:p>
          <a:p>
            <a:pPr lvl="1"/>
            <a:r>
              <a:rPr b="1"/>
              <a:t>Triple_Threat</a:t>
            </a:r>
            <a:r>
              <a:rPr/>
              <a:t> (engineered interaction) ranks as a top-3 predictor, justifying our feature engineering phase.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Business</a:t>
            </a:r>
            <a:r>
              <a:rPr/>
              <a:t> </a:t>
            </a:r>
            <a:r>
              <a:rPr/>
              <a:t>Strategy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Policy</a:t>
            </a:r>
            <a:r>
              <a:rPr/>
              <a:t> </a:t>
            </a:r>
            <a:r>
              <a:rPr/>
              <a:t>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Score &lt; 0.2</a:t>
            </a:r>
            <a:r>
              <a:rPr/>
              <a:t>: Low Risk -&gt; </a:t>
            </a:r>
            <a:r>
              <a:rPr b="1"/>
              <a:t>Automated Approval</a:t>
            </a:r>
          </a:p>
          <a:p>
            <a:pPr lvl="1"/>
            <a:r>
              <a:rPr b="1"/>
              <a:t>0.2 - 0.4</a:t>
            </a:r>
            <a:r>
              <a:rPr/>
              <a:t>: Medium Risk -&gt; </a:t>
            </a:r>
            <a:r>
              <a:rPr b="1"/>
              <a:t>Verification Required</a:t>
            </a:r>
            <a:r>
              <a:rPr/>
              <a:t> (Income/Assets)</a:t>
            </a:r>
          </a:p>
          <a:p>
            <a:pPr lvl="1"/>
            <a:r>
              <a:rPr b="1"/>
              <a:t>Score &gt; 0.4</a:t>
            </a:r>
            <a:r>
              <a:rPr/>
              <a:t>: High Risk -&gt; </a:t>
            </a:r>
            <a:r>
              <a:rPr b="1"/>
              <a:t>Stricter Collateral or Decline</a:t>
            </a:r>
          </a:p>
          <a:p>
            <a:pPr lvl="1"/>
            <a:r>
              <a:rPr b="1"/>
              <a:t>Action</a:t>
            </a:r>
            <a:r>
              <a:rPr/>
              <a:t>: Hard-cap LTV at 75% for the ‘Young/No-History’ demographic.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Impact</a:t>
            </a:r>
            <a:r>
              <a:rPr/>
              <a:t>: Predictive modeling outperforms human heuristics by 15-20%.</a:t>
            </a:r>
          </a:p>
          <a:p>
            <a:pPr lvl="1"/>
            <a:r>
              <a:rPr b="1"/>
              <a:t>Savings</a:t>
            </a:r>
            <a:r>
              <a:rPr/>
              <a:t>: Catching 74% of defaults directly reduces net charge-offs.</a:t>
            </a:r>
          </a:p>
          <a:p>
            <a:pPr lvl="1"/>
            <a:r>
              <a:rPr b="1"/>
              <a:t>Future</a:t>
            </a:r>
            <a:r>
              <a:rPr/>
              <a:t>: Real-time integration into the loan origination system (LOS).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Technical Discussion</a:t>
            </a:r>
            <a:r>
              <a:rPr/>
              <a:t>: SHAP implementation or Stacking logic.</a:t>
            </a:r>
          </a:p>
          <a:p>
            <a:pPr lvl="1"/>
            <a:r>
              <a:rPr b="1"/>
              <a:t>Business Discussion</a:t>
            </a:r>
            <a:r>
              <a:rPr/>
              <a:t>: ROI modeling and threshold sensitivity.</a:t>
            </a:r>
          </a:p>
          <a:p>
            <a:pPr lvl="1"/>
            <a:r>
              <a:rPr b="1"/>
              <a:t>Thank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Credit Risk Scoring for Vehicle Loans</dc:title>
  <dc:creator>Minimizing Losses through Probabilistic Default Prediction &amp; Transparent AI</dc:creator>
  <cp:keywords/>
  <dcterms:created xsi:type="dcterms:W3CDTF">2026-02-02T08:58:53Z</dcterms:created>
  <dcterms:modified xsi:type="dcterms:W3CDTF">2026-02-02T08:58:53Z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 2026</vt:lpwstr>
  </property>
</Properties>
</file>